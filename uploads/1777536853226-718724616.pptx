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256" r:id="rId2"/>
    <p:sldId id="265" r:id="rId3"/>
    <p:sldId id="295" r:id="rId4"/>
    <p:sldId id="287" r:id="rId5"/>
    <p:sldId id="297" r:id="rId6"/>
    <p:sldId id="296" r:id="rId7"/>
    <p:sldId id="258" r:id="rId8"/>
    <p:sldId id="261" r:id="rId9"/>
    <p:sldId id="288" r:id="rId10"/>
    <p:sldId id="285" r:id="rId11"/>
    <p:sldId id="303" r:id="rId12"/>
    <p:sldId id="289" r:id="rId13"/>
    <p:sldId id="269" r:id="rId14"/>
    <p:sldId id="268" r:id="rId15"/>
    <p:sldId id="290" r:id="rId16"/>
    <p:sldId id="291" r:id="rId17"/>
    <p:sldId id="274" r:id="rId18"/>
    <p:sldId id="275" r:id="rId19"/>
    <p:sldId id="276" r:id="rId20"/>
    <p:sldId id="277" r:id="rId21"/>
    <p:sldId id="278" r:id="rId22"/>
    <p:sldId id="279" r:id="rId23"/>
    <p:sldId id="292" r:id="rId24"/>
    <p:sldId id="280" r:id="rId25"/>
    <p:sldId id="281" r:id="rId26"/>
    <p:sldId id="282" r:id="rId27"/>
    <p:sldId id="300" r:id="rId28"/>
    <p:sldId id="283" r:id="rId29"/>
    <p:sldId id="284" r:id="rId30"/>
    <p:sldId id="293" r:id="rId31"/>
    <p:sldId id="294" r:id="rId32"/>
    <p:sldId id="298" r:id="rId33"/>
    <p:sldId id="302" r:id="rId34"/>
    <p:sldId id="299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5" d="100"/>
          <a:sy n="85" d="100"/>
        </p:scale>
        <p:origin x="18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ED483D-05C2-400C-9597-D95589DA6144}" type="datetimeFigureOut">
              <a:rPr lang="en-US" smtClean="0"/>
              <a:t>11/10/2023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C9DAC0-0619-4363-8F39-6C7B7A3181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7449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157C6-1C60-44EB-8041-93716B86E0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586D17-45FA-4AFF-A8DF-AC682B0E40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1DD4ED-4CA3-46D1-94F6-8A242AE8B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2AC24-B6A2-4E8E-9C1A-4FF0677AEFEA}" type="datetime1">
              <a:rPr lang="en-US" smtClean="0"/>
              <a:t>11/10/2023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E3F36E-5D7B-4F28-BD30-F9C1BA430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BEC9E4-9128-4FFC-9D88-52AC218AD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047A2-A0BA-4069-AFC7-9040D8BD5B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1773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02F09-22AE-43C6-8BAD-4032CEF27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A7696A-2D9A-4E19-BC26-52DABBAE39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85005C-14C7-4C38-87A1-97E96C983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0F21D-2D37-4FB7-BAB7-4D5CB09A3F7B}" type="datetime1">
              <a:rPr lang="en-US" smtClean="0"/>
              <a:t>11/10/2023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86EA5F-BC11-4431-9F31-99D826B23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6D23A5-A5CB-421E-81F2-37AF73840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047A2-A0BA-4069-AFC7-9040D8BD5B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800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3CB2C-9AF4-4047-B548-5EDC97DAF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3AE737-C5A6-4C9F-B857-DCDA31AFEF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C7EA81-DCDB-4760-A76E-AC39370CD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2F755-2756-4362-B576-D09613A0067F}" type="datetime1">
              <a:rPr lang="en-US" smtClean="0"/>
              <a:t>11/10/2023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606012-E46E-440C-A344-03BDFE5DA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CF1164-C768-4ABB-8543-D2386A0D5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047A2-A0BA-4069-AFC7-9040D8BD5B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0966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F640A-D61C-49DF-BA17-F3C9BB70B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B68613-6497-43B6-8F6B-034D74A944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0E6F27-2F5D-44E3-AD71-D91DA194FA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1C1377-1020-489B-948F-055DDA316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5C684-5D57-4310-BA2F-106ADDD774D6}" type="datetime1">
              <a:rPr lang="en-US" smtClean="0"/>
              <a:t>11/10/2023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EC0049-5E1B-4838-901E-BB988376C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56BB0C-7C23-4A9A-8020-9C23AC266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047A2-A0BA-4069-AFC7-9040D8BD5B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736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866BC-4720-44AA-9A40-75D9FB82B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949D17-F1A4-4F4A-A70D-CE06FFCE89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6CE547-D6A8-4BC4-8F59-A33ABCE2A3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42E243-DAD8-4DAA-980E-032B750213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6E19FE-A3BD-4959-A8D0-7EC677C829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8048B0-4D70-44E3-9D7B-F8F7E8987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67F75-7EA4-40B2-9DF8-DB8ABEF78E2F}" type="datetime1">
              <a:rPr lang="en-US" smtClean="0"/>
              <a:t>11/10/2023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37525E-A1FC-4380-817A-056B8608B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3A6571-B04E-412B-8532-929973F67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047A2-A0BA-4069-AFC7-9040D8BD5B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817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3232D-268C-42BF-835E-62C544DBF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9F3217-BAF8-430E-BEC2-1B1982250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CAD71-DE82-4025-8C8D-284347FCF41D}" type="datetime1">
              <a:rPr lang="en-US" smtClean="0"/>
              <a:t>11/10/2023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730F48-3546-4194-B0D6-6C6A8E319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701FEB-4E56-4868-BBE3-573400B0D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047A2-A0BA-4069-AFC7-9040D8BD5B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280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5BF1F0-B3C0-499F-A0AA-683F7BD89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111CD-D3BC-4168-9A0C-05852374B237}" type="datetime1">
              <a:rPr lang="en-US" smtClean="0"/>
              <a:t>11/10/2023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9531A2-0341-4A14-8F01-CBF187A46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B035FE-0F71-49FE-ABF7-6572868B1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047A2-A0BA-4069-AFC7-9040D8BD5B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1961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CE891-501A-4F7D-A13E-0E8A247E4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48FBD0-90D7-4D10-847C-A9C53C217F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A77A06-D2BF-4877-9927-B0D0E3F869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E99846-ABE8-4296-B24A-D65BC93DE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C5C3E-E205-4EC8-A42E-1B98D009B64F}" type="datetime1">
              <a:rPr lang="en-US" smtClean="0"/>
              <a:t>11/10/2023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4E5D0D-A3E0-40BF-9512-69C19EE6C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C07D9A-EE4B-40A9-8C9D-D42BD0CB2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047A2-A0BA-4069-AFC7-9040D8BD5B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28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2DEAD-7F0C-4226-9DCD-870C68BA7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5FE422-25C8-4A9F-8227-420B3071F0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5F1318-D198-4807-A256-B3AEC70D03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7A9F46-DFF0-4355-9720-406A87AD5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8B9DA-E2EC-4F36-89AD-2BBF6A89AE7C}" type="datetime1">
              <a:rPr lang="en-US" smtClean="0"/>
              <a:t>11/10/2023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5417C5-CCA6-414D-B29B-6B8C10802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C2F7B9-69A3-47CB-A0BF-261CFAE4D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047A2-A0BA-4069-AFC7-9040D8BD5B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035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F5223-AE55-4A0F-88A2-703C16043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EFC4A5-E585-4600-B4D3-E987EAB387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55D415-7625-41FF-80F3-35EB69205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00412-F5B1-4428-89DD-E63BD1D72861}" type="datetime1">
              <a:rPr lang="en-US" smtClean="0"/>
              <a:t>11/10/2023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D2B263-1900-4ED3-AFA4-D1B81EDB9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B9F28A-DD0A-4E45-AD17-FB2B980AC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047A2-A0BA-4069-AFC7-9040D8BD5B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8206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B316E1-5099-4456-8A05-07751918D3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4943EE-87E1-4236-B670-C9D9C60489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E13597-E3A6-4A2C-802A-F82BF28A2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11517-28A4-44ED-8C61-B23F1B4F0653}" type="datetime1">
              <a:rPr lang="en-US" smtClean="0"/>
              <a:t>11/10/2023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141E7B-B4BD-4FFD-ADC2-6A1E2F388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3F7B53-BD0D-4F14-9555-8A51302A5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047A2-A0BA-4069-AFC7-9040D8BD5B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2396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5B866A-CDE8-4770-89FF-E22039FA7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F024C5-40C1-423C-9ECB-814E22513B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6A8A7B-3A9C-4EEC-9EAB-67C79CB6BA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A092DD-8C51-4B40-96A0-B61489395372}" type="datetime1">
              <a:rPr lang="en-US" smtClean="0"/>
              <a:t>11/10/2023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BC6393-DEC3-4F53-A08F-8D7BFC2148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72D767-B867-49AF-8E3B-EE664658EF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5047A2-A0BA-4069-AFC7-9040D8BD5B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62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F63B59F-2BB4-4F1D-844E-3A3350E69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8940"/>
            <a:ext cx="9619445" cy="1996225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Chapter-4 </a:t>
            </a:r>
            <a:b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Knowledge-based Agent in Artificial intelligence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486DE46-92D9-40F0-BC47-AE4E09402A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0462" y="2215165"/>
            <a:ext cx="8062175" cy="4301545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Outline: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are Agents? 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knowledge?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knowledge base agents?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Operations of knowledge base agents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of knowledge base agents 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Knowledge representation techniques 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1A89DBF-56BE-494A-8171-0C25F262B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047A2-A0BA-4069-AFC7-9040D8BD5B6E}" type="slidenum">
              <a:rPr lang="en-US" smtClean="0"/>
              <a:t>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F83482-279D-454B-8BBB-1FAE262CC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9000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09DB5-B556-423F-BEA4-365C7B715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Knowledge base agents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245E3D-9A9C-4040-8A42-F741565557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intelligent agent needs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knowledge/understanding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about the real world for taking decisions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reasoning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efficiently.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their defined knowledge to solve a problem.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agents can represent the world with some formal representation and act intelligently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>
              <a:buFont typeface="Wingdings" panose="05000000000000000000" pitchFamily="2" charset="2"/>
              <a:buChar char="ü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BCC768-7EE7-4D06-A43D-E2FCF541B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047A2-A0BA-4069-AFC7-9040D8BD5B6E}" type="slidenum">
              <a:rPr lang="en-US" smtClean="0"/>
              <a:t>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72BBB-A53D-4CF7-AE65-3FBE04BD8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0290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32F47F-4825-458F-BDC0-647DD51D60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85800"/>
            <a:ext cx="10515600" cy="5491163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Knowledge-based agents are composed of two main parts: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Knowledge-base and,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Inference system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Knowledge-base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knowledge base contains all the information the agent has.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knowledge-based agent, all the decision are taken in accordance with the data present in its knowledge base. 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DFDA98-1436-45CA-851F-B3054E7DE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047A2-A0BA-4069-AFC7-9040D8BD5B6E}" type="slidenum">
              <a:rPr lang="en-US" smtClean="0"/>
              <a:t>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747F94-FF43-4733-9E4A-390E5E26C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2313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529C67-E81E-4E00-B789-B75A3FDFA5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42912"/>
            <a:ext cx="10515600" cy="60864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Knowledge base: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Knowledge-base is a central component of a knowledge-based agent,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also known as KB.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 collection of sentences (here 'sentence' is a technical term and it is not identical to sentence in English).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Knowledge base represents the actual facts which exist in the real world.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the central component of a knowledge-based agent.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is a set of sentences which describes the information related to the world</a:t>
            </a:r>
            <a:r>
              <a:rPr lang="en-US" dirty="0">
                <a:solidFill>
                  <a:srgbClr val="00B050"/>
                </a:solidFill>
              </a:rPr>
              <a:t>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2E3CB86-44B8-49FD-9DC9-527256DFB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047A2-A0BA-4069-AFC7-9040D8BD5B6E}" type="slidenum">
              <a:rPr lang="en-US" smtClean="0"/>
              <a:t>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98730B-5564-43F3-A19E-8151AE921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724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30FCF2-4AF4-4A13-9D82-3754FF63F2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28625"/>
            <a:ext cx="10291763" cy="5748338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sentences are expressed in a language which is called a knowledge representation language / Rules and facts.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Knowledge-base of KBA stores fact about the world</a:t>
            </a:r>
            <a:r>
              <a:rPr lang="en-US" dirty="0"/>
              <a:t>.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knowledge base contains all the information the agent has.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knowledge-based agent, all the decision are taken in accordance with the data present in its knowledge base.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D91C82-ABA6-4B20-8EFF-0594DE22D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047A2-A0BA-4069-AFC7-9040D8BD5B6E}" type="slidenum">
              <a:rPr lang="en-US" smtClean="0"/>
              <a:t>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29107F-525E-41AE-8701-344E7D7DF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8248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CDD1F4-766E-4AB9-9606-62510E84C2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57225"/>
            <a:ext cx="10515600" cy="5519738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Inference system- 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takes an input from the environment and consults with the knowledge component.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knowledge-based agent (KBA) take input from the environment by perceiving the environment.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input is taken by the inference engine of the agent and which also communicate with KB to decide as per the knowledge store in KB.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learning element of KBA regularly updates the KB by learning new knowledge.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FD60143-3C3E-4611-B90A-5B2032E94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047A2-A0BA-4069-AFC7-9040D8BD5B6E}" type="slidenum">
              <a:rPr lang="en-US" smtClean="0"/>
              <a:t>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740938-D3E2-4A5F-94DB-779333951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5948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3E8D1-93E8-40CC-B24A-A13F4AA61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architecture of knowledge-based agent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834C8E2-0D1B-41EF-87FF-DD02C71E0F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95587" y="2229644"/>
            <a:ext cx="6600825" cy="35433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ACB99E-D380-41B2-BFD1-46C2D7585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047A2-A0BA-4069-AFC7-9040D8BD5B6E}" type="slidenum">
              <a:rPr lang="en-US" smtClean="0"/>
              <a:t>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73F58F-46F9-4617-A5CF-1B5560DD3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3493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50E484-C96A-432B-B506-FD664A9540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37882"/>
            <a:ext cx="10515600" cy="57390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the AI-Agents use a knowledge base?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Knowledge base is required to make decision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make decision / for solving problems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Knowledge-base is required to take action as per the knowledge. 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updating knowledge of an agent learning with experiences is mandatory. 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E4E9FEF-DFE7-446F-81B7-B4AD52699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047A2-A0BA-4069-AFC7-9040D8BD5B6E}" type="slidenum">
              <a:rPr lang="en-US" smtClean="0"/>
              <a:t>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144A00-AB75-4EBF-BF1A-B145AA020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682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C7B36-DE37-4E96-BCFD-F6F962E62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92188"/>
          </a:xfrm>
        </p:spPr>
        <p:txBody>
          <a:bodyPr>
            <a:normAutofit fontScale="90000"/>
          </a:bodyPr>
          <a:lstStyle/>
          <a:p>
            <a:pPr algn="ctr"/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Operations Performed by Knowledge based Agents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0DECD2-6151-41F4-A2F3-DC9AF8B9B2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85949"/>
            <a:ext cx="10515600" cy="4291013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following are three operations which are performed by KBA in order to show the intelligent behavior: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TELL: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This operation tells the knowledge base 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it perceives from the environment.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ASK: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This operation asks the knowledge base 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action it should perform.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performs 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selected action.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8941FE-D3DF-452B-8232-B4C423935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047A2-A0BA-4069-AFC7-9040D8BD5B6E}" type="slidenum">
              <a:rPr lang="en-US" smtClean="0"/>
              <a:t>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A18ECA-FF2A-44C7-9A1E-301C3B3BD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086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7B63E0-A0C3-4B27-9712-C6C6396F8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57200"/>
            <a:ext cx="10515600" cy="571976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See this pic:-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A55B44-BE84-4D39-B4D4-03C1213803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599" y="1071563"/>
            <a:ext cx="8477251" cy="472916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58D77F0-D144-43FC-99A6-24F9FDD18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047A2-A0BA-4069-AFC7-9040D8BD5B6E}" type="slidenum">
              <a:rPr lang="en-US" smtClean="0"/>
              <a:t>10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9728E4-0055-46D2-8089-FB3BA5444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4304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69C39-9F1E-FF3F-0B10-7A078045C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knowledge Representation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7AB47-546B-0B95-DF8A-BF21718CE0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b="1" dirty="0"/>
              <a:t>Why we need knowledge Representation?</a:t>
            </a:r>
            <a:endParaRPr lang="en-US" dirty="0"/>
          </a:p>
          <a:p>
            <a:pPr lvl="1"/>
            <a:r>
              <a:rPr lang="en-US" dirty="0"/>
              <a:t>Problem solving requires large number amount of knowledge and some mechanism for manipulating that knowledge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5B5054-020E-ABF6-4C73-971BFC306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B8BA89-3D4A-9633-5FFF-351042504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047A2-A0BA-4069-AFC7-9040D8BD5B6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2503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8A68A0-CAF9-4839-8417-9E38DE88EF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71488"/>
            <a:ext cx="10334625" cy="5705475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Note:-Main problems in developing an intelligent system are:- 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Knowledge representation-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represent the knowledge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has about a problem domain / world. 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Reasoning out-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 reason using the knowledge in order to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answer questions or make decisions-</a:t>
            </a:r>
            <a:r>
              <a:rPr lang="en-US" i="1" dirty="0"/>
              <a:t> inferencing.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Knowledge representation techniques- 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Prepositional logic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order logic.</a:t>
            </a:r>
          </a:p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B1B23E1-AC7C-4105-BF31-7755659A9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047A2-A0BA-4069-AFC7-9040D8BD5B6E}" type="slidenum">
              <a:rPr lang="en-US" smtClean="0"/>
              <a:t>12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34A219-63BF-4CF6-A168-330F36DEC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0456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28E8F-7AB5-4733-A670-B55E70404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Knowledge representation using Prepositional logic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99B269-0352-423E-A698-70342B1B31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simple language that is useful for  representing facts facts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k/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represented using facts, which are either true or false, but it cannot be both. 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facts are represented using symbols, like P, Q, R….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of the prepositional symbols are atomic sentences.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defines the semantics of each of these symbols.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example:-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means "It is hot"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means "It is humid"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means "It is raining“</a:t>
            </a:r>
          </a:p>
          <a:p>
            <a:pPr lvl="1"/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0C6857-5436-4889-92C8-EDA4F11BC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047A2-A0BA-4069-AFC7-9040D8BD5B6E}" type="slidenum">
              <a:rPr lang="en-US" smtClean="0"/>
              <a:t>13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50C15D-8371-4EAE-B7DE-BAAF15EB4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5980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F9F3D-66E6-405A-A63B-1AAB01173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Knowledge representation using Prepositional logic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009375-7E06-4CEA-8499-FC1ABDC6A6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/>
          <a:lstStyle/>
          <a:p>
            <a:pPr marL="0" lv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knowledge representation using PL have 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all possible sequences of symbols that form sentences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Semantics: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facts in the world to which the sentences refer</a:t>
            </a:r>
          </a:p>
          <a:p>
            <a:pPr marL="914400" lvl="2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does it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B16216-8468-40A1-A051-EAEF68DF9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047A2-A0BA-4069-AFC7-9040D8BD5B6E}" type="slidenum">
              <a:rPr lang="en-US" smtClean="0"/>
              <a:t>14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05990F-C38F-4F76-9685-1459EC627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4740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CDB348-2B2F-47E6-B590-982E805C75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71513"/>
            <a:ext cx="10515600" cy="5505450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Statements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which are questions, commands, or opinions are 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 propositions.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such as "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is Rohini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",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"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are you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",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your name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", are not propositions.</a:t>
            </a:r>
          </a:p>
          <a:p>
            <a:pPr lvl="1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propositions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connectives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the basic elements of the propositional logic.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Prepositions can be-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Atomic Propositions-</a:t>
            </a:r>
            <a:r>
              <a:rPr lang="en-US" dirty="0"/>
              <a:t> Atomic propositions are the simple propositions.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It consists of a single proposition symbol.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These are the sentences which must be either true or false.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2+2 is 4, it is an atomic proposition as it is a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fact.  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"The Sun is cold" is also a proposition as it is a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fact. </a:t>
            </a:r>
          </a:p>
          <a:p>
            <a:pPr lvl="2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7DDD1B6-5AF4-46E2-AA91-A5EFD6ACB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047A2-A0BA-4069-AFC7-9040D8BD5B6E}" type="slidenum">
              <a:rPr lang="en-US" smtClean="0"/>
              <a:t>15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707625-5789-4E5E-B8AD-5CF56F2AB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4496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8050D5-9E59-436F-987C-5C21F303DE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14375"/>
            <a:ext cx="10515600" cy="5462588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Compound proposition: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Compound propositions are constructed by combining simpler or atomic propositions using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logical connectives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Example:-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 is raining today, and street is wet.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Abebe is a doctor, and his clinic is in Hawassa.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1EE17A-0559-476E-B6E4-B91B6C213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047A2-A0BA-4069-AFC7-9040D8BD5B6E}" type="slidenum">
              <a:rPr lang="en-US" smtClean="0"/>
              <a:t>16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3E1420-39FD-441C-825B-37CD147F5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259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01D54-37F3-4A08-8F12-3AA570B1E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207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Connectors /Logical Connectors: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8104-EA72-4EFF-ADFD-E3BCC47C7F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5888"/>
            <a:ext cx="10515600" cy="4986337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to connect the prepositions /to connect facts of the world.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Negation: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 sentence such as ¬ P is called negation of P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Conjunction: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 sentence which has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∧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connective such as,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∧ Q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is called a conjunction.</a:t>
            </a:r>
          </a:p>
          <a:p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Abebe is intelligent and hardworking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It can be written as,</a:t>
            </a:r>
          </a:p>
          <a:p>
            <a:pPr marL="457200" lvl="1" indent="0">
              <a:buNone/>
            </a:pP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P= Abebe is intelligent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Q= Abebe is hardworking.</a:t>
            </a:r>
          </a:p>
          <a:p>
            <a:pPr marL="914400" lvl="2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P∧ Q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Disjunction: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 sentence which has ∨ connective, such as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∨ Q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is called disjunction, where P and Q are the propositions.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“Abebe is a doctor or Engineer"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 P= Abebe is Doctor. Q= Abebe is Engineer,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can write it as 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 ∨ Q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A4C253-7AAB-4B0D-A790-9D327BC41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047A2-A0BA-4069-AFC7-9040D8BD5B6E}" type="slidenum">
              <a:rPr lang="en-US" smtClean="0"/>
              <a:t>17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74106E-D28C-48AB-8223-7A532B91D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5826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0141F8-EFA0-4DD2-BCBD-C90F89097A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42938"/>
            <a:ext cx="10515600" cy="5534025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Implication: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 sentence such as P → Q, is called an implication. Implications are also known as if-then rules.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can be represented as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   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it is raining, then the street is wet.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P= It is raining, and Q= Street is wet, so it is represented as P → Q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Biconditional: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 sentence such as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P⇔ Q is a Biconditional sentence, example If I am breathing, then I am alive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P= I am breathing, Q= I am alive, it can be represented as P ⇔ Q.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72E139-8F85-4B4A-968F-184C1673D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047A2-A0BA-4069-AFC7-9040D8BD5B6E}" type="slidenum">
              <a:rPr lang="en-US" smtClean="0"/>
              <a:t>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E5A53C-CDCC-482E-AD02-7B580E682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4742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4FBBDEB-5301-4ACF-AF0F-5E5FB11DFB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57225"/>
            <a:ext cx="10248900" cy="5519738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 of connecters-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1D40E7E-E478-4CEE-9709-ED0998F398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" y="1209673"/>
            <a:ext cx="7891462" cy="344805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F91CCCB-9835-4B2D-A962-0E50D8DA4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047A2-A0BA-4069-AFC7-9040D8BD5B6E}" type="slidenum">
              <a:rPr lang="en-US" smtClean="0"/>
              <a:t>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1DF218-BEEE-46C3-8D19-CF913F6CE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7747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7A0D9-A705-4D93-B3D8-3BB5805B9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Truth table of prepositional logics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C4CD59-18C0-4680-AF91-6B7DA2BC4E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277475" cy="4486275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propositional logic, we need to know the truth values of propositions in all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possible scenarios.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can combine all the possible combination with logical connectives, and the representation of these combinations in a tabular format is called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Truth table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90DBE1-D159-4B3E-913C-4E282F19D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047A2-A0BA-4069-AFC7-9040D8BD5B6E}" type="slidenum">
              <a:rPr lang="en-US" smtClean="0"/>
              <a:t>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CFDC07-539A-441B-801B-41326D9A2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1139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9308AE-9E3D-4B88-95E7-FAFEB20AB9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00076"/>
            <a:ext cx="10515600" cy="5576888"/>
          </a:xfrm>
        </p:spPr>
        <p:txBody>
          <a:bodyPr/>
          <a:lstStyle/>
          <a:p>
            <a:r>
              <a:rPr lang="en-US" dirty="0"/>
              <a:t>Example-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7E830F-70D1-43C4-A1DF-F998C5779A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838" y="1200151"/>
            <a:ext cx="8658224" cy="3743324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CEA6AA6-7C1D-47EE-986D-9F203F2D1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047A2-A0BA-4069-AFC7-9040D8BD5B6E}" type="slidenum">
              <a:rPr lang="en-US" smtClean="0"/>
              <a:t>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DAD27C-A3A0-42C3-A1FE-F232A3901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2796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F5C6B-F4FF-408E-BDD3-C842F08B5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06463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Properties of logical connectors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CEDC80-1310-4330-9B09-97432F7D83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1588"/>
            <a:ext cx="10515600" cy="4905375"/>
          </a:xfrm>
        </p:spPr>
        <p:txBody>
          <a:bodyPr>
            <a:normAutofit fontScale="92500" lnSpcReduction="10000"/>
          </a:bodyPr>
          <a:lstStyle/>
          <a:p>
            <a:pPr lvl="2">
              <a:buFont typeface="Wingdings" panose="05000000000000000000" pitchFamily="2" charset="2"/>
              <a:buChar char="§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Commutativity: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P∧ Q= Q ∧ P, or</a:t>
            </a:r>
          </a:p>
          <a:p>
            <a:pPr lvl="3"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∨ Q = Q ∨ P.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Associativity: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 ∧ Q) ∧ R= P ∧ (Q ∧ R),</a:t>
            </a:r>
          </a:p>
          <a:p>
            <a:pPr lvl="3"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 ∨ Q) ∨ R= P ∨ (Q ∨ R)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Identity element: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∧ True = P,</a:t>
            </a:r>
          </a:p>
          <a:p>
            <a:pPr lvl="3"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∨ True= True.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Distributive: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P∧ (Q ∨ R) = (P ∧ Q) ∨ (P ∧ R).</a:t>
            </a:r>
          </a:p>
          <a:p>
            <a:pPr lvl="3"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∨ (Q ∧ R) = (P ∨ Q) ∧ (P ∨ R).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Morgan's Law: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¬ (P ∧ Q) = (¬P) ∨ (¬Q)</a:t>
            </a:r>
          </a:p>
          <a:p>
            <a:pPr lvl="3"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¬ (P ∨ Q) = (¬ P) ∧ (¬Q).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Double-negation elimination: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¬ (¬P) = P.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D68ED4-BE89-4BE5-80F4-51FA4B3DE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047A2-A0BA-4069-AFC7-9040D8BD5B6E}" type="slidenum">
              <a:rPr lang="en-US" smtClean="0"/>
              <a:t>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6CE3ED-80F6-49E8-B338-62E4017FB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9243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D9F7E3-A4B1-46E4-9B95-33460F191F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57225"/>
            <a:ext cx="10515600" cy="55197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of Propositional logic: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cannot represent relations like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ALL, some, or none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propositional logic.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the girls are intelligent.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apples are sweet.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Propositional logic has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limited expressive power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propositional logic, we cannot describe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statements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terms of their properties or logical relationships. 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To solve this limitation,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We can use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 order logic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represent the knowledge base.</a:t>
            </a:r>
          </a:p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BEAF550-139F-4047-8F42-62D3808F6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047A2-A0BA-4069-AFC7-9040D8BD5B6E}" type="slidenum">
              <a:rPr lang="en-US" smtClean="0"/>
              <a:t>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78592A-C3E1-45DB-AA3E-43651AE98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6257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DC62C-B25B-4E76-9252-72152D90D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Knowledge representation using first-order 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73928A-8EEC-4BDD-A7C5-782D1F4EDA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First-order logic is a powerful language that develops information about the objects in a more easy way and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also express the relationship between those objects.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D40CED-6365-4D14-A633-B3D41EE72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047A2-A0BA-4069-AFC7-9040D8BD5B6E}" type="slidenum">
              <a:rPr lang="en-US" smtClean="0"/>
              <a:t>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847EE2-FD1C-4986-B5DF-981616F53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6429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9FE304-2644-4285-90F6-9101B7CAC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15815"/>
            <a:ext cx="10515600" cy="566114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First-order logic (like natural language) does not only assume that the world contains facts like propositional logic but also assumes the following things in the world: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Objects: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A, B, people, numbers, colors, wars, theories, squares,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 such as: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red, round, is adjacent, the sister of, brother of, has color, comes between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Father of, best friend, third of, end of, ......</a:t>
            </a:r>
          </a:p>
          <a:p>
            <a:pPr marL="0" indent="0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uses quantifiers,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Universal Quantifier, (for all, everyone, everything)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Existential quantifier, (for some, at least one).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q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6DCD98-A77B-49C2-B32A-40136E0E4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047A2-A0BA-4069-AFC7-9040D8BD5B6E}" type="slidenum">
              <a:rPr lang="en-US" smtClean="0"/>
              <a:t>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1D26C8-ACCC-4947-9176-DFECF5A03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9553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36E4C4-5EDE-4EE1-BB6F-44BCFE81D4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2950"/>
            <a:ext cx="10515600" cy="5434013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Abebe and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Asmelash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brothers: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Brother(Abebe,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Asmelash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     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Chinky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cat:  cat (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Chinky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See the next sample knowledge content.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E07C596-B69B-4847-AFAE-3641B48B8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047A2-A0BA-4069-AFC7-9040D8BD5B6E}" type="slidenum">
              <a:rPr lang="en-US" smtClean="0"/>
              <a:t>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26D04B-7E76-4757-B289-2F46A027B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5332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0DFF6-66A0-4D8E-899B-E75B04D8A8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628650"/>
            <a:ext cx="6096000" cy="6286500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black(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naty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human(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aman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reads(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x,y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reads(x1,y1).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reads(x2,y2).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reads(x3,y3).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reads(x3,y5).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loves(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x,y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loves(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y,x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loves(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a,b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loves(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b,a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friends(X,Y):-loves(X,Y),loves(Y,X).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2F981E5-6D8C-4D82-BCDB-6AD81CE32B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72125" y="828675"/>
            <a:ext cx="6400799" cy="534828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father(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abebe,kasa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father(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abebe,yirdaw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father(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x,y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father(x,y1).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father(x1,y4).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father(x1,y7).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brothers(Y,B):-father(X,Y),father(X,B).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father(h1,h).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father(h,h3).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grandF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(X,G):-father(X,H1),father(H1,G).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C1735E-0F4F-4A9E-A901-B0533C964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047A2-A0BA-4069-AFC7-9040D8BD5B6E}" type="slidenum">
              <a:rPr lang="en-US" smtClean="0"/>
              <a:t>27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1BFB6B9-67AF-4FE4-AB62-273D8A5B6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6945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B6B23-25FD-4F68-9F5F-65CC768AD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92175"/>
          </a:xfrm>
        </p:spPr>
        <p:txBody>
          <a:bodyPr>
            <a:normAutofit fontScale="90000"/>
          </a:bodyPr>
          <a:lstStyle/>
          <a:p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Quantifiers in First-order logic: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24A8D4-BCC3-4DE6-AFF7-90292A0B33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7300"/>
            <a:ext cx="10234613" cy="4919663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quantifier is a language element which generates quantification, and quantification specifies the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quantity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specimen in the universe of discourse.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are the symbols that permit to determine or identify the range and scope of the variable in the logical expression. There are two types of quantifier: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Universal Quantifier, (for all, everyone, everything)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Existential quantifier, (for some, at least one).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A7B397-19BD-40D7-BBF7-E22A27D9F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047A2-A0BA-4069-AFC7-9040D8BD5B6E}" type="slidenum">
              <a:rPr lang="en-US" smtClean="0"/>
              <a:t>28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8A183D-5824-413A-AC46-CA8B26957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3973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379050-767D-4D79-AC55-207E1EE992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71525"/>
            <a:ext cx="10515600" cy="5405438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man drink coffee.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∀x man(x) → drink (x, coffee).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will be read as: There are all x where x is a man who drink coffee.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∃x: boys(x) ∧ intelligent(x)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will be read as: There are some x where x is a boy who is intelligent.</a:t>
            </a:r>
          </a:p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6B54DE1-F038-48F2-9EE5-F8762001A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047A2-A0BA-4069-AFC7-9040D8BD5B6E}" type="slidenum">
              <a:rPr lang="en-US" smtClean="0"/>
              <a:t>29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05DDFA-1EC5-4BD0-AA8E-6CFF49806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0576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52C47-7E42-4782-AB51-D3EFAC7CD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techniques of k/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representation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6CF3E8-B842-4CB0-B0E2-06F4DB1584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8063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Semantic Network representation-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68DC6A-053F-4C48-9A32-619B1BFDD4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347" y="2492403"/>
            <a:ext cx="6564291" cy="4000472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11878E-1B3D-421F-B6D7-B4990FF46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047A2-A0BA-4069-AFC7-9040D8BD5B6E}" type="slidenum">
              <a:rPr lang="en-US" smtClean="0"/>
              <a:t>30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422773-5DF6-4CC4-8DFD-5A03B5C43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9262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BD7D34-76B1-482B-9ED3-BF6D47078F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75138"/>
            <a:ext cx="10515600" cy="5801825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  image knowledge vs finite state  of words  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78DEF5-A86A-4285-9592-62632B675C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939" y="1490660"/>
            <a:ext cx="4219575" cy="24098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2CEB68C-FDCD-4C5E-8F13-C5844BF40B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7046" y="1140065"/>
            <a:ext cx="5072061" cy="2847978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D3CFA5-E6E5-4C05-B111-87F8229C9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047A2-A0BA-4069-AFC7-9040D8BD5B6E}" type="slidenum">
              <a:rPr lang="en-US" smtClean="0"/>
              <a:t>31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51D815C-8F34-4CD2-843D-1198171CC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55008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002E8175-F595-42A2-AAF7-D11A19DA06F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471488"/>
            <a:ext cx="10515600" cy="5705475"/>
          </a:xfrm>
        </p:spPr>
        <p:txBody>
          <a:bodyPr/>
          <a:lstStyle/>
          <a:p>
            <a:pPr marL="0" indent="0">
              <a:buNone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  <a:r>
              <a:rPr lang="en-US" altLang="en-US" dirty="0"/>
              <a:t>     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61718271-44EA-4D3A-81DD-0AA23FCF5206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314326"/>
            <a:ext cx="8229600" cy="62690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en-US" dirty="0"/>
              <a:t> 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E2E79A6-6C53-4B8C-BB79-5B44178817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244" y="846138"/>
            <a:ext cx="5238750" cy="32099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7F68532-8142-4DA3-AB62-0558E17672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8500" y="846138"/>
            <a:ext cx="4686300" cy="28956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364C32B-9909-449A-906E-01715B0444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5790" y="4243388"/>
            <a:ext cx="7160419" cy="2060575"/>
          </a:xfrm>
          <a:prstGeom prst="rect">
            <a:avLst/>
          </a:prstGeo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4D0265E-C730-4BDF-A69C-6A289BD77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047A2-A0BA-4069-AFC7-9040D8BD5B6E}" type="slidenum">
              <a:rPr lang="en-US" smtClean="0"/>
              <a:t>32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E47E0DCB-7A7F-4772-A55E-6831BA61D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831178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D2CCC-3C70-3F2A-68E1-0E3A15179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437DC6-BF0A-F1A1-AFBA-2E19E9AE80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Questions: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are knowledge based agents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knowledge base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sample knowledge base of problem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B0908B-A3C3-BF46-1C3E-AE65A508C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9F2B61-1075-9A58-746E-E6B8666A6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047A2-A0BA-4069-AFC7-9040D8BD5B6E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15510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5CA501-46DB-43BE-BDA7-8BBD2C8E23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2950"/>
            <a:ext cx="10515600" cy="5434013"/>
          </a:xfrm>
        </p:spPr>
        <p:txBody>
          <a:bodyPr/>
          <a:lstStyle/>
          <a:p>
            <a:pPr algn="ctr">
              <a:buFont typeface="Wingdings" panose="05000000000000000000" pitchFamily="2" charset="2"/>
              <a:buChar char="v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of chapter-4.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D1EE77-E77E-4EA8-96D0-8AEFD9466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047A2-A0BA-4069-AFC7-9040D8BD5B6E}" type="slidenum">
              <a:rPr lang="en-US" smtClean="0"/>
              <a:t>34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4A9E1D-A16B-4204-95E8-255C3838B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140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3705</TotalTime>
  <Words>1942</Words>
  <Application>Microsoft Office PowerPoint</Application>
  <PresentationFormat>Widescreen</PresentationFormat>
  <Paragraphs>234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0" baseType="lpstr">
      <vt:lpstr>Arial</vt:lpstr>
      <vt:lpstr>Calibri</vt:lpstr>
      <vt:lpstr>Calibri Light</vt:lpstr>
      <vt:lpstr>Times New Roman</vt:lpstr>
      <vt:lpstr>Wingdings</vt:lpstr>
      <vt:lpstr>Office Theme</vt:lpstr>
      <vt:lpstr>Chapter-4  Knowledge-based Agent in Artificial intelligence</vt:lpstr>
      <vt:lpstr>Knowledge base agents</vt:lpstr>
      <vt:lpstr>PowerPoint Presentation</vt:lpstr>
      <vt:lpstr>PowerPoint Presentation</vt:lpstr>
      <vt:lpstr>PowerPoint Presentation</vt:lpstr>
      <vt:lpstr>PowerPoint Presentation</vt:lpstr>
      <vt:lpstr>The architecture of knowledge-based agent  </vt:lpstr>
      <vt:lpstr>PowerPoint Presentation</vt:lpstr>
      <vt:lpstr> Operations Performed by Knowledge based Agents </vt:lpstr>
      <vt:lpstr>PowerPoint Presentation</vt:lpstr>
      <vt:lpstr>knowledge Representation</vt:lpstr>
      <vt:lpstr>PowerPoint Presentation</vt:lpstr>
      <vt:lpstr>Knowledge representation using Prepositional logic </vt:lpstr>
      <vt:lpstr>Knowledge representation using Prepositional logic  </vt:lpstr>
      <vt:lpstr>PowerPoint Presentation</vt:lpstr>
      <vt:lpstr>PowerPoint Presentation</vt:lpstr>
      <vt:lpstr>Connectors /Logical Connectors:</vt:lpstr>
      <vt:lpstr>PowerPoint Presentation</vt:lpstr>
      <vt:lpstr>PowerPoint Presentation</vt:lpstr>
      <vt:lpstr>Truth table of prepositional logics</vt:lpstr>
      <vt:lpstr>PowerPoint Presentation</vt:lpstr>
      <vt:lpstr> Properties of logical connectors </vt:lpstr>
      <vt:lpstr>PowerPoint Presentation</vt:lpstr>
      <vt:lpstr>Knowledge representation using first-order logic</vt:lpstr>
      <vt:lpstr>PowerPoint Presentation</vt:lpstr>
      <vt:lpstr>PowerPoint Presentation</vt:lpstr>
      <vt:lpstr>PowerPoint Presentation</vt:lpstr>
      <vt:lpstr> Quantifiers in First-order logic: </vt:lpstr>
      <vt:lpstr>PowerPoint Presentation</vt:lpstr>
      <vt:lpstr>Other techniques of k/ge representation  </vt:lpstr>
      <vt:lpstr>PowerPoint Presentation</vt:lpstr>
      <vt:lpstr>PowerPoint Presentation</vt:lpstr>
      <vt:lpstr>Questions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Cha-4  Knowledge-Based Agent in Artificial intelligence</dc:title>
  <dc:creator>brehane</dc:creator>
  <cp:lastModifiedBy>Girmay Tekle</cp:lastModifiedBy>
  <cp:revision>114</cp:revision>
  <dcterms:created xsi:type="dcterms:W3CDTF">2019-11-27T09:27:50Z</dcterms:created>
  <dcterms:modified xsi:type="dcterms:W3CDTF">2023-11-10T07:30:35Z</dcterms:modified>
</cp:coreProperties>
</file>